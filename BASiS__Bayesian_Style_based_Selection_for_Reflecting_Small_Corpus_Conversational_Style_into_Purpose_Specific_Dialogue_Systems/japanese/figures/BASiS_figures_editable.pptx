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ase A background"/>
          <p:cNvSpPr/>
          <p:nvPr/>
        </p:nvSpPr>
        <p:spPr>
          <a:xfrm>
            <a:off x="219456" y="201168"/>
            <a:ext cx="6903720" cy="2907792"/>
          </a:xfrm>
          <a:prstGeom prst="roundRect">
            <a:avLst/>
          </a:prstGeom>
          <a:solidFill>
            <a:srgbClr val="F4F9FC"/>
          </a:solidFill>
          <a:ln w="15240">
            <a:solidFill>
              <a:srgbClr val="B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ase B background"/>
          <p:cNvSpPr/>
          <p:nvPr/>
        </p:nvSpPr>
        <p:spPr>
          <a:xfrm>
            <a:off x="219456" y="3273552"/>
            <a:ext cx="11740896" cy="3163824"/>
          </a:xfrm>
          <a:prstGeom prst="roundRect">
            <a:avLst/>
          </a:prstGeom>
          <a:solidFill>
            <a:srgbClr val="F8FAFB"/>
          </a:solidFill>
          <a:ln w="15240">
            <a:solidFill>
              <a:srgbClr val="B7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hase A label box"/>
          <p:cNvSpPr/>
          <p:nvPr/>
        </p:nvSpPr>
        <p:spPr>
          <a:xfrm>
            <a:off x="457200" y="374904"/>
            <a:ext cx="3364992" cy="310896"/>
          </a:xfrm>
          <a:prstGeom prst="roundRect">
            <a:avLst/>
          </a:prstGeom>
          <a:solidFill>
            <a:srgbClr val="EAF3F8"/>
          </a:solidFill>
          <a:ln w="1333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hase A label text"/>
          <p:cNvSpPr txBox="1"/>
          <p:nvPr/>
        </p:nvSpPr>
        <p:spPr>
          <a:xfrm>
            <a:off x="493776" y="393192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A6F97"/>
                </a:solidFill>
                <a:latin typeface="Aptos"/>
              </a:rPr>
              <a:t>A   DIALOGUE PROGRESSION MODEL INDUCTION</a:t>
            </a:r>
          </a:p>
        </p:txBody>
      </p:sp>
      <p:sp>
        <p:nvSpPr>
          <p:cNvPr id="6" name="Phase B label box"/>
          <p:cNvSpPr/>
          <p:nvPr/>
        </p:nvSpPr>
        <p:spPr>
          <a:xfrm>
            <a:off x="457200" y="3438144"/>
            <a:ext cx="2843784" cy="310896"/>
          </a:xfrm>
          <a:prstGeom prst="roundRect">
            <a:avLst/>
          </a:prstGeom>
          <a:solidFill>
            <a:srgbClr val="E8F6F3"/>
          </a:solidFill>
          <a:ln w="1333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ase B label text"/>
          <p:cNvSpPr txBox="1"/>
          <p:nvPr/>
        </p:nvSpPr>
        <p:spPr>
          <a:xfrm>
            <a:off x="493776" y="3456432"/>
            <a:ext cx="277063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A9D8F"/>
                </a:solidFill>
                <a:latin typeface="Aptos"/>
              </a:rPr>
              <a:t>B   DATA SELECTION &amp; ADAPTATION</a:t>
            </a:r>
          </a:p>
        </p:txBody>
      </p:sp>
      <p:sp>
        <p:nvSpPr>
          <p:cNvPr id="8" name="Small corpus"/>
          <p:cNvSpPr/>
          <p:nvPr/>
        </p:nvSpPr>
        <p:spPr>
          <a:xfrm>
            <a:off x="502920" y="877824"/>
            <a:ext cx="1481328" cy="1874519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9A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mall corpus database icon"/>
          <p:cNvSpPr/>
          <p:nvPr/>
        </p:nvSpPr>
        <p:spPr>
          <a:xfrm>
            <a:off x="1088136" y="1042415"/>
            <a:ext cx="310896" cy="274320"/>
          </a:xfrm>
          <a:prstGeom prst="can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mall corpus role"/>
          <p:cNvSpPr txBox="1"/>
          <p:nvPr/>
        </p:nvSpPr>
        <p:spPr>
          <a:xfrm>
            <a:off x="658368" y="1399032"/>
            <a:ext cx="117043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0313F"/>
                </a:solidFill>
                <a:latin typeface="Aptos"/>
              </a:rPr>
              <a:t>PROGRESSION REFERENCE</a:t>
            </a:r>
          </a:p>
        </p:txBody>
      </p:sp>
      <p:sp>
        <p:nvSpPr>
          <p:cNvPr id="11" name="Small corpus label"/>
          <p:cNvSpPr txBox="1"/>
          <p:nvPr/>
        </p:nvSpPr>
        <p:spPr>
          <a:xfrm>
            <a:off x="630936" y="1664208"/>
            <a:ext cx="1225296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0313F"/>
                </a:solidFill>
                <a:latin typeface="Aptos Display"/>
              </a:rPr>
              <a:t>Small,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0313F"/>
                </a:solidFill>
                <a:latin typeface="Aptos Display"/>
              </a:rPr>
              <a:t>high-quality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0313F"/>
                </a:solidFill>
                <a:latin typeface="Aptos Display"/>
              </a:rPr>
              <a:t>dialogue corpus</a:t>
            </a:r>
          </a:p>
        </p:txBody>
      </p:sp>
      <p:sp>
        <p:nvSpPr>
          <p:cNvPr id="12" name="Module 1 card"/>
          <p:cNvSpPr/>
          <p:nvPr/>
        </p:nvSpPr>
        <p:spPr>
          <a:xfrm>
            <a:off x="2304288" y="1060704"/>
            <a:ext cx="1975104" cy="1444752"/>
          </a:xfrm>
          <a:prstGeom prst="roundRect">
            <a:avLst/>
          </a:prstGeom>
          <a:solidFill>
            <a:srgbClr val="EAF3F8"/>
          </a:solidFill>
          <a:ln w="1714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odule 1 badge"/>
          <p:cNvSpPr/>
          <p:nvPr/>
        </p:nvSpPr>
        <p:spPr>
          <a:xfrm>
            <a:off x="2212848" y="987552"/>
            <a:ext cx="329184" cy="329184"/>
          </a:xfrm>
          <a:prstGeom prst="ellipse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Module 1 title"/>
          <p:cNvSpPr txBox="1"/>
          <p:nvPr/>
        </p:nvSpPr>
        <p:spPr>
          <a:xfrm>
            <a:off x="2496312" y="1234440"/>
            <a:ext cx="1591056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Dialogue Feature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Analysis</a:t>
            </a:r>
          </a:p>
        </p:txBody>
      </p:sp>
      <p:sp>
        <p:nvSpPr>
          <p:cNvPr id="15" name="Module 1 details"/>
          <p:cNvSpPr txBox="1"/>
          <p:nvPr/>
        </p:nvSpPr>
        <p:spPr>
          <a:xfrm>
            <a:off x="2496312" y="1984248"/>
            <a:ext cx="159105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0313F"/>
                </a:solidFill>
                <a:latin typeface="Aptos"/>
              </a:rPr>
              <a:t>states  •  strategies  •  transitions</a:t>
            </a:r>
          </a:p>
        </p:txBody>
      </p:sp>
      <p:sp>
        <p:nvSpPr>
          <p:cNvPr id="16" name="Module 2 card"/>
          <p:cNvSpPr/>
          <p:nvPr/>
        </p:nvSpPr>
        <p:spPr>
          <a:xfrm>
            <a:off x="4736592" y="1060704"/>
            <a:ext cx="2029968" cy="1444752"/>
          </a:xfrm>
          <a:prstGeom prst="roundRect">
            <a:avLst/>
          </a:prstGeom>
          <a:solidFill>
            <a:srgbClr val="EAF3F8"/>
          </a:solidFill>
          <a:ln w="1714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odule 2 badge"/>
          <p:cNvSpPr/>
          <p:nvPr/>
        </p:nvSpPr>
        <p:spPr>
          <a:xfrm>
            <a:off x="4645152" y="987552"/>
            <a:ext cx="329184" cy="329184"/>
          </a:xfrm>
          <a:prstGeom prst="ellipse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Module 2 title"/>
          <p:cNvSpPr txBox="1"/>
          <p:nvPr/>
        </p:nvSpPr>
        <p:spPr>
          <a:xfrm>
            <a:off x="4919472" y="1234440"/>
            <a:ext cx="1664208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Bayesian Dialogue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Modeling</a:t>
            </a:r>
          </a:p>
        </p:txBody>
      </p:sp>
      <p:sp>
        <p:nvSpPr>
          <p:cNvPr id="19" name="Module 2 details"/>
          <p:cNvSpPr txBox="1"/>
          <p:nvPr/>
        </p:nvSpPr>
        <p:spPr>
          <a:xfrm>
            <a:off x="4919472" y="1956816"/>
            <a:ext cx="1664208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0313F"/>
                </a:solidFill>
                <a:latin typeface="Aptos"/>
              </a:rPr>
              <a:t>transition &amp; observation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0313F"/>
                </a:solidFill>
                <a:latin typeface="Aptos"/>
              </a:rPr>
              <a:t>probabilities</a:t>
            </a:r>
          </a:p>
        </p:txBody>
      </p:sp>
      <p:sp>
        <p:nvSpPr>
          <p:cNvPr id="20" name="Large corpus"/>
          <p:cNvSpPr/>
          <p:nvPr/>
        </p:nvSpPr>
        <p:spPr>
          <a:xfrm>
            <a:off x="502920" y="3941063"/>
            <a:ext cx="1755648" cy="19659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9A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 pool icon 1"/>
          <p:cNvSpPr/>
          <p:nvPr/>
        </p:nvSpPr>
        <p:spPr>
          <a:xfrm>
            <a:off x="1225296" y="4123944"/>
            <a:ext cx="310896" cy="182880"/>
          </a:xfrm>
          <a:prstGeom prst="diamond">
            <a:avLst/>
          </a:prstGeom>
          <a:solidFill>
            <a:srgbClr val="66778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didate pool icon 2"/>
          <p:cNvSpPr/>
          <p:nvPr/>
        </p:nvSpPr>
        <p:spPr>
          <a:xfrm>
            <a:off x="1225296" y="4206240"/>
            <a:ext cx="310896" cy="182880"/>
          </a:xfrm>
          <a:prstGeom prst="diamond">
            <a:avLst/>
          </a:prstGeom>
          <a:solidFill>
            <a:srgbClr val="66778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didate pool icon 3"/>
          <p:cNvSpPr/>
          <p:nvPr/>
        </p:nvSpPr>
        <p:spPr>
          <a:xfrm>
            <a:off x="1225296" y="4288536"/>
            <a:ext cx="310896" cy="182880"/>
          </a:xfrm>
          <a:prstGeom prst="diamond">
            <a:avLst/>
          </a:prstGeom>
          <a:solidFill>
            <a:srgbClr val="66778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rge corpus role"/>
          <p:cNvSpPr txBox="1"/>
          <p:nvPr/>
        </p:nvSpPr>
        <p:spPr>
          <a:xfrm>
            <a:off x="722376" y="4507992"/>
            <a:ext cx="131673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0313F"/>
                </a:solidFill>
                <a:latin typeface="Aptos"/>
              </a:rPr>
              <a:t>CANDIDATE POOL</a:t>
            </a:r>
          </a:p>
        </p:txBody>
      </p:sp>
      <p:sp>
        <p:nvSpPr>
          <p:cNvPr id="25" name="Large corpus label"/>
          <p:cNvSpPr txBox="1"/>
          <p:nvPr/>
        </p:nvSpPr>
        <p:spPr>
          <a:xfrm>
            <a:off x="685800" y="4773168"/>
            <a:ext cx="1389888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Large, general-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purpose dialogue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corpus</a:t>
            </a:r>
          </a:p>
        </p:txBody>
      </p:sp>
      <p:sp>
        <p:nvSpPr>
          <p:cNvPr id="26" name="Module 3 card"/>
          <p:cNvSpPr/>
          <p:nvPr/>
        </p:nvSpPr>
        <p:spPr>
          <a:xfrm>
            <a:off x="3017520" y="4160520"/>
            <a:ext cx="2011680" cy="1417320"/>
          </a:xfrm>
          <a:prstGeom prst="roundRect">
            <a:avLst/>
          </a:prstGeom>
          <a:solidFill>
            <a:srgbClr val="E8F6F3"/>
          </a:solidFill>
          <a:ln w="1714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odule 3 badge"/>
          <p:cNvSpPr/>
          <p:nvPr/>
        </p:nvSpPr>
        <p:spPr>
          <a:xfrm>
            <a:off x="2926080" y="4087368"/>
            <a:ext cx="329184" cy="329184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Module 3 title"/>
          <p:cNvSpPr txBox="1"/>
          <p:nvPr/>
        </p:nvSpPr>
        <p:spPr>
          <a:xfrm>
            <a:off x="3227832" y="4315968"/>
            <a:ext cx="1591056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Dialogue Progression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20313F"/>
                </a:solidFill>
                <a:latin typeface="Aptos Display"/>
              </a:rPr>
              <a:t>Scoring</a:t>
            </a:r>
          </a:p>
        </p:txBody>
      </p:sp>
      <p:sp>
        <p:nvSpPr>
          <p:cNvPr id="29" name="Module 3 details"/>
          <p:cNvSpPr txBox="1"/>
          <p:nvPr/>
        </p:nvSpPr>
        <p:spPr>
          <a:xfrm>
            <a:off x="3255264" y="5111496"/>
            <a:ext cx="153619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0313F"/>
                </a:solidFill>
                <a:latin typeface="Cambria Math"/>
              </a:rPr>
              <a:t>Score(rₜ) ∈ [0, 1]</a:t>
            </a:r>
          </a:p>
        </p:txBody>
      </p:sp>
      <p:sp>
        <p:nvSpPr>
          <p:cNvPr id="30" name="Module 4 card"/>
          <p:cNvSpPr/>
          <p:nvPr/>
        </p:nvSpPr>
        <p:spPr>
          <a:xfrm>
            <a:off x="5650992" y="4160520"/>
            <a:ext cx="2779776" cy="1417320"/>
          </a:xfrm>
          <a:prstGeom prst="roundRect">
            <a:avLst/>
          </a:prstGeom>
          <a:solidFill>
            <a:srgbClr val="FFF1E8"/>
          </a:solidFill>
          <a:ln w="17145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odule 4 badge"/>
          <p:cNvSpPr/>
          <p:nvPr/>
        </p:nvSpPr>
        <p:spPr>
          <a:xfrm>
            <a:off x="5559552" y="4087368"/>
            <a:ext cx="329184" cy="329184"/>
          </a:xfrm>
          <a:prstGeom prst="ellipse">
            <a:avLst/>
          </a:prstGeom>
          <a:solidFill>
            <a:srgbClr val="D97745"/>
          </a:solidFill>
          <a:ln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Module 4 title"/>
          <p:cNvSpPr txBox="1"/>
          <p:nvPr/>
        </p:nvSpPr>
        <p:spPr>
          <a:xfrm>
            <a:off x="5879592" y="4297680"/>
            <a:ext cx="2322576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313F"/>
                </a:solidFill>
                <a:latin typeface="Aptos Display"/>
              </a:rPr>
              <a:t>Preference Data Selection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313F"/>
                </a:solidFill>
                <a:latin typeface="Aptos Display"/>
              </a:rPr>
              <a:t>&amp; DPO Adaptation</a:t>
            </a:r>
          </a:p>
        </p:txBody>
      </p:sp>
      <p:sp>
        <p:nvSpPr>
          <p:cNvPr id="33" name="Module 4 details"/>
          <p:cNvSpPr txBox="1"/>
          <p:nvPr/>
        </p:nvSpPr>
        <p:spPr>
          <a:xfrm>
            <a:off x="6163056" y="5102352"/>
            <a:ext cx="175564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20313F"/>
                </a:solidFill>
                <a:latin typeface="Cambria Math"/>
              </a:rPr>
              <a:t>chosen  ≻  rejected</a:t>
            </a:r>
          </a:p>
        </p:txBody>
      </p:sp>
      <p:sp>
        <p:nvSpPr>
          <p:cNvPr id="34" name="Output LLM card"/>
          <p:cNvSpPr/>
          <p:nvPr/>
        </p:nvSpPr>
        <p:spPr>
          <a:xfrm>
            <a:off x="9354312" y="4270248"/>
            <a:ext cx="2029968" cy="1207008"/>
          </a:xfrm>
          <a:prstGeom prst="roundRect">
            <a:avLst/>
          </a:prstGeom>
          <a:solidFill>
            <a:srgbClr val="20313F"/>
          </a:solidFill>
          <a:ln w="15240">
            <a:solidFill>
              <a:srgbClr val="20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utput LLM chip icon"/>
          <p:cNvSpPr/>
          <p:nvPr/>
        </p:nvSpPr>
        <p:spPr>
          <a:xfrm>
            <a:off x="10195560" y="4434840"/>
            <a:ext cx="310896" cy="274320"/>
          </a:xfrm>
          <a:prstGeom prst="flowChartMagneticDisk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utput LLM label"/>
          <p:cNvSpPr txBox="1"/>
          <p:nvPr/>
        </p:nvSpPr>
        <p:spPr>
          <a:xfrm>
            <a:off x="9573768" y="4754880"/>
            <a:ext cx="159105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 Display"/>
              </a:rPr>
              <a:t>Progression-adapted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 Display"/>
              </a:rPr>
              <a:t>local LLM</a:t>
            </a:r>
          </a:p>
        </p:txBody>
      </p:sp>
      <p:cxnSp>
        <p:nvCxnSpPr>
          <p:cNvPr id="37" name="Small corpus to Module 1"/>
          <p:cNvCxnSpPr/>
          <p:nvPr/>
        </p:nvCxnSpPr>
        <p:spPr>
          <a:xfrm>
            <a:off x="1984248" y="1819656"/>
            <a:ext cx="320040" cy="0"/>
          </a:xfrm>
          <a:prstGeom prst="line">
            <a:avLst/>
          </a:prstGeom>
          <a:ln w="20320">
            <a:solidFill>
              <a:srgbClr val="2031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Module 1 to Module 2"/>
          <p:cNvCxnSpPr/>
          <p:nvPr/>
        </p:nvCxnSpPr>
        <p:spPr>
          <a:xfrm>
            <a:off x="4279392" y="1819656"/>
            <a:ext cx="457200" cy="0"/>
          </a:xfrm>
          <a:prstGeom prst="line">
            <a:avLst/>
          </a:prstGeom>
          <a:ln w="20320">
            <a:solidFill>
              <a:srgbClr val="2031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ialogue features label background"/>
          <p:cNvSpPr/>
          <p:nvPr/>
        </p:nvSpPr>
        <p:spPr>
          <a:xfrm>
            <a:off x="4261104" y="1517904"/>
            <a:ext cx="530352" cy="228600"/>
          </a:xfrm>
          <a:prstGeom prst="round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logue features label"/>
          <p:cNvSpPr txBox="1"/>
          <p:nvPr/>
        </p:nvSpPr>
        <p:spPr>
          <a:xfrm>
            <a:off x="4261104" y="1517904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67784"/>
                </a:solidFill>
                <a:latin typeface="Aptos"/>
              </a:rPr>
              <a:t>features</a:t>
            </a:r>
          </a:p>
        </p:txBody>
      </p:sp>
      <p:cxnSp>
        <p:nvCxnSpPr>
          <p:cNvPr id="41" name="Bayesian model route 1"/>
          <p:cNvCxnSpPr/>
          <p:nvPr/>
        </p:nvCxnSpPr>
        <p:spPr>
          <a:xfrm>
            <a:off x="5751576" y="2505456"/>
            <a:ext cx="0" cy="521208"/>
          </a:xfrm>
          <a:prstGeom prst="line">
            <a:avLst/>
          </a:prstGeom>
          <a:ln w="2032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Bayesian model route 2"/>
          <p:cNvCxnSpPr/>
          <p:nvPr/>
        </p:nvCxnSpPr>
        <p:spPr>
          <a:xfrm flipH="1">
            <a:off x="4023360" y="3026664"/>
            <a:ext cx="1728216" cy="0"/>
          </a:xfrm>
          <a:prstGeom prst="line">
            <a:avLst/>
          </a:prstGeom>
          <a:ln w="2032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Bayesian model route 3"/>
          <p:cNvCxnSpPr/>
          <p:nvPr/>
        </p:nvCxnSpPr>
        <p:spPr>
          <a:xfrm>
            <a:off x="4023360" y="3026664"/>
            <a:ext cx="0" cy="1133856"/>
          </a:xfrm>
          <a:prstGeom prst="line">
            <a:avLst/>
          </a:prstGeom>
          <a:ln w="20320">
            <a:solidFill>
              <a:srgbClr val="2A6F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Bayesian model label background"/>
          <p:cNvSpPr/>
          <p:nvPr/>
        </p:nvSpPr>
        <p:spPr>
          <a:xfrm>
            <a:off x="4160520" y="2852928"/>
            <a:ext cx="1417320" cy="237744"/>
          </a:xfrm>
          <a:prstGeom prst="round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yesian model label"/>
          <p:cNvSpPr txBox="1"/>
          <p:nvPr/>
        </p:nvSpPr>
        <p:spPr>
          <a:xfrm>
            <a:off x="4160520" y="2852928"/>
            <a:ext cx="14173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2A6F97"/>
                </a:solidFill>
                <a:latin typeface="Aptos"/>
              </a:rPr>
              <a:t>Bayesian dialogue model</a:t>
            </a:r>
          </a:p>
        </p:txBody>
      </p:sp>
      <p:cxnSp>
        <p:nvCxnSpPr>
          <p:cNvPr id="46" name="Candidates to scoring"/>
          <p:cNvCxnSpPr/>
          <p:nvPr/>
        </p:nvCxnSpPr>
        <p:spPr>
          <a:xfrm>
            <a:off x="2258568" y="4864608"/>
            <a:ext cx="758952" cy="0"/>
          </a:xfrm>
          <a:prstGeom prst="line">
            <a:avLst/>
          </a:prstGeom>
          <a:ln w="19050">
            <a:solidFill>
              <a:srgbClr val="6677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andidate responses label background"/>
          <p:cNvSpPr/>
          <p:nvPr/>
        </p:nvSpPr>
        <p:spPr>
          <a:xfrm>
            <a:off x="2139696" y="4581144"/>
            <a:ext cx="1024128" cy="219456"/>
          </a:xfrm>
          <a:prstGeom prst="round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andidate responses label"/>
          <p:cNvSpPr txBox="1"/>
          <p:nvPr/>
        </p:nvSpPr>
        <p:spPr>
          <a:xfrm>
            <a:off x="2139696" y="4581144"/>
            <a:ext cx="102412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67784"/>
                </a:solidFill>
                <a:latin typeface="Aptos"/>
              </a:rPr>
              <a:t>candidate responses</a:t>
            </a:r>
          </a:p>
        </p:txBody>
      </p:sp>
      <p:cxnSp>
        <p:nvCxnSpPr>
          <p:cNvPr id="49" name="Scoring to preference"/>
          <p:cNvCxnSpPr/>
          <p:nvPr/>
        </p:nvCxnSpPr>
        <p:spPr>
          <a:xfrm>
            <a:off x="5029200" y="4864608"/>
            <a:ext cx="621792" cy="0"/>
          </a:xfrm>
          <a:prstGeom prst="line">
            <a:avLst/>
          </a:prstGeom>
          <a:ln w="20320">
            <a:solidFill>
              <a:srgbClr val="2A9D8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Scored candidates label background"/>
          <p:cNvSpPr/>
          <p:nvPr/>
        </p:nvSpPr>
        <p:spPr>
          <a:xfrm>
            <a:off x="4864608" y="4581144"/>
            <a:ext cx="950976" cy="219456"/>
          </a:xfrm>
          <a:prstGeom prst="round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cored candidates label"/>
          <p:cNvSpPr txBox="1"/>
          <p:nvPr/>
        </p:nvSpPr>
        <p:spPr>
          <a:xfrm>
            <a:off x="4864608" y="4581144"/>
            <a:ext cx="95097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A9D8F"/>
                </a:solidFill>
                <a:latin typeface="Aptos"/>
              </a:rPr>
              <a:t>scored candidates</a:t>
            </a:r>
          </a:p>
        </p:txBody>
      </p:sp>
      <p:cxnSp>
        <p:nvCxnSpPr>
          <p:cNvPr id="52" name="DPO to output LLM"/>
          <p:cNvCxnSpPr/>
          <p:nvPr/>
        </p:nvCxnSpPr>
        <p:spPr>
          <a:xfrm>
            <a:off x="8430768" y="4864608"/>
            <a:ext cx="923544" cy="0"/>
          </a:xfrm>
          <a:prstGeom prst="line">
            <a:avLst/>
          </a:prstGeom>
          <a:ln w="20320">
            <a:solidFill>
              <a:srgbClr val="D9774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LoRA DPO label background"/>
          <p:cNvSpPr/>
          <p:nvPr/>
        </p:nvSpPr>
        <p:spPr>
          <a:xfrm>
            <a:off x="8586216" y="4581144"/>
            <a:ext cx="713232" cy="219456"/>
          </a:xfrm>
          <a:prstGeom prst="round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oRA DPO label"/>
          <p:cNvSpPr txBox="1"/>
          <p:nvPr/>
        </p:nvSpPr>
        <p:spPr>
          <a:xfrm>
            <a:off x="8586216" y="458114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D97745"/>
                </a:solidFill>
                <a:latin typeface="Aptos"/>
              </a:rPr>
              <a:t>LoRA–DPO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ior panel"/>
          <p:cNvSpPr/>
          <p:nvPr/>
        </p:nvSpPr>
        <p:spPr>
          <a:xfrm>
            <a:off x="237744" y="1115568"/>
            <a:ext cx="2011680" cy="5376672"/>
          </a:xfrm>
          <a:prstGeom prst="roundRect">
            <a:avLst/>
          </a:prstGeom>
          <a:solidFill>
            <a:srgbClr val="F8FAFB"/>
          </a:solidFill>
          <a:ln w="15240">
            <a:solidFill>
              <a:srgbClr val="9A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ior title"/>
          <p:cNvSpPr txBox="1"/>
          <p:nvPr/>
        </p:nvSpPr>
        <p:spPr>
          <a:xfrm>
            <a:off x="438912" y="1261872"/>
            <a:ext cx="16093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0313F"/>
                </a:solidFill>
                <a:latin typeface="Aptos Display"/>
              </a:rPr>
              <a:t>PRIOR STATE</a:t>
            </a:r>
          </a:p>
        </p:txBody>
      </p:sp>
      <p:sp>
        <p:nvSpPr>
          <p:cNvPr id="4" name="Prior step"/>
          <p:cNvSpPr/>
          <p:nvPr/>
        </p:nvSpPr>
        <p:spPr>
          <a:xfrm>
            <a:off x="182880" y="1060704"/>
            <a:ext cx="329184" cy="329184"/>
          </a:xfrm>
          <a:prstGeom prst="ellipse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Predict panel"/>
          <p:cNvSpPr/>
          <p:nvPr/>
        </p:nvSpPr>
        <p:spPr>
          <a:xfrm>
            <a:off x="2450592" y="1115568"/>
            <a:ext cx="2011680" cy="5376672"/>
          </a:xfrm>
          <a:prstGeom prst="roundRect">
            <a:avLst/>
          </a:prstGeom>
          <a:solidFill>
            <a:srgbClr val="F8FAFB"/>
          </a:solidFill>
          <a:ln w="15240">
            <a:solidFill>
              <a:srgbClr val="9A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edict title"/>
          <p:cNvSpPr txBox="1"/>
          <p:nvPr/>
        </p:nvSpPr>
        <p:spPr>
          <a:xfrm>
            <a:off x="2651760" y="1261872"/>
            <a:ext cx="16093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0313F"/>
                </a:solidFill>
                <a:latin typeface="Aptos Display"/>
              </a:rPr>
              <a:t>PREDICT</a:t>
            </a:r>
          </a:p>
        </p:txBody>
      </p:sp>
      <p:sp>
        <p:nvSpPr>
          <p:cNvPr id="7" name="Predict step"/>
          <p:cNvSpPr/>
          <p:nvPr/>
        </p:nvSpPr>
        <p:spPr>
          <a:xfrm>
            <a:off x="2395728" y="1060704"/>
            <a:ext cx="329184" cy="329184"/>
          </a:xfrm>
          <a:prstGeom prst="ellipse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Observe panel"/>
          <p:cNvSpPr/>
          <p:nvPr/>
        </p:nvSpPr>
        <p:spPr>
          <a:xfrm>
            <a:off x="4663440" y="1115568"/>
            <a:ext cx="2011680" cy="5376672"/>
          </a:xfrm>
          <a:prstGeom prst="roundRect">
            <a:avLst/>
          </a:prstGeom>
          <a:solidFill>
            <a:srgbClr val="F8FAFB"/>
          </a:solidFill>
          <a:ln w="15240">
            <a:solidFill>
              <a:srgbClr val="9A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bserve title"/>
          <p:cNvSpPr txBox="1"/>
          <p:nvPr/>
        </p:nvSpPr>
        <p:spPr>
          <a:xfrm>
            <a:off x="4864607" y="1261872"/>
            <a:ext cx="16093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0313F"/>
                </a:solidFill>
                <a:latin typeface="Aptos Display"/>
              </a:rPr>
              <a:t>LABEL RESPONSE</a:t>
            </a:r>
          </a:p>
        </p:txBody>
      </p:sp>
      <p:sp>
        <p:nvSpPr>
          <p:cNvPr id="10" name="Observe step"/>
          <p:cNvSpPr/>
          <p:nvPr/>
        </p:nvSpPr>
        <p:spPr>
          <a:xfrm>
            <a:off x="4608576" y="1060704"/>
            <a:ext cx="329184" cy="329184"/>
          </a:xfrm>
          <a:prstGeom prst="ellipse">
            <a:avLst/>
          </a:prstGeom>
          <a:solidFill>
            <a:srgbClr val="D97745"/>
          </a:solidFill>
          <a:ln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" name="Update panel"/>
          <p:cNvSpPr/>
          <p:nvPr/>
        </p:nvSpPr>
        <p:spPr>
          <a:xfrm>
            <a:off x="6876288" y="1115568"/>
            <a:ext cx="2816352" cy="5376672"/>
          </a:xfrm>
          <a:prstGeom prst="roundRect">
            <a:avLst/>
          </a:prstGeom>
          <a:solidFill>
            <a:srgbClr val="F8FAFB"/>
          </a:solidFill>
          <a:ln w="15240">
            <a:solidFill>
              <a:srgbClr val="9A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Update title"/>
          <p:cNvSpPr txBox="1"/>
          <p:nvPr/>
        </p:nvSpPr>
        <p:spPr>
          <a:xfrm>
            <a:off x="7077455" y="1261872"/>
            <a:ext cx="241401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0313F"/>
                </a:solidFill>
                <a:latin typeface="Aptos Display"/>
              </a:rPr>
              <a:t>BAYESIAN UPDATE</a:t>
            </a:r>
          </a:p>
        </p:txBody>
      </p:sp>
      <p:sp>
        <p:nvSpPr>
          <p:cNvPr id="13" name="Update step"/>
          <p:cNvSpPr/>
          <p:nvPr/>
        </p:nvSpPr>
        <p:spPr>
          <a:xfrm>
            <a:off x="6821424" y="1060704"/>
            <a:ext cx="329184" cy="329184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Score panel"/>
          <p:cNvSpPr/>
          <p:nvPr/>
        </p:nvSpPr>
        <p:spPr>
          <a:xfrm>
            <a:off x="9893808" y="1115568"/>
            <a:ext cx="2011680" cy="5376672"/>
          </a:xfrm>
          <a:prstGeom prst="roundRect">
            <a:avLst/>
          </a:prstGeom>
          <a:solidFill>
            <a:srgbClr val="F8FAFB"/>
          </a:solidFill>
          <a:ln w="15240">
            <a:solidFill>
              <a:srgbClr val="9A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core title"/>
          <p:cNvSpPr txBox="1"/>
          <p:nvPr/>
        </p:nvSpPr>
        <p:spPr>
          <a:xfrm>
            <a:off x="10094976" y="1261872"/>
            <a:ext cx="16093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0313F"/>
                </a:solidFill>
                <a:latin typeface="Aptos Display"/>
              </a:rPr>
              <a:t>PROGRESSION SCORE</a:t>
            </a:r>
          </a:p>
        </p:txBody>
      </p:sp>
      <p:sp>
        <p:nvSpPr>
          <p:cNvPr id="16" name="Score step"/>
          <p:cNvSpPr/>
          <p:nvPr/>
        </p:nvSpPr>
        <p:spPr>
          <a:xfrm>
            <a:off x="9838944" y="1060704"/>
            <a:ext cx="329184" cy="329184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Prior distribution label"/>
          <p:cNvSpPr txBox="1"/>
          <p:nvPr/>
        </p:nvSpPr>
        <p:spPr>
          <a:xfrm>
            <a:off x="466344" y="1563624"/>
            <a:ext cx="155448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67784"/>
                </a:solidFill>
                <a:latin typeface="Cambria Math"/>
              </a:rPr>
              <a:t>state belief bₜ₋₁(s)</a:t>
            </a:r>
          </a:p>
        </p:txBody>
      </p:sp>
      <p:cxnSp>
        <p:nvCxnSpPr>
          <p:cNvPr id="18" name="Prior chart axis"/>
          <p:cNvCxnSpPr/>
          <p:nvPr/>
        </p:nvCxnSpPr>
        <p:spPr>
          <a:xfrm>
            <a:off x="1097280" y="2011680"/>
            <a:ext cx="0" cy="3886200"/>
          </a:xfrm>
          <a:prstGeom prst="line">
            <a:avLst/>
          </a:prstGeom>
          <a:ln w="12700">
            <a:solidFill>
              <a:srgbClr val="9A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ior disclosure label"/>
          <p:cNvSpPr txBox="1"/>
          <p:nvPr/>
        </p:nvSpPr>
        <p:spPr>
          <a:xfrm>
            <a:off x="301752" y="2039112"/>
            <a:ext cx="74980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0313F"/>
                </a:solidFill>
                <a:latin typeface="Aptos"/>
              </a:rPr>
              <a:t>Emotion</a:t>
            </a:r>
          </a:p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0313F"/>
                </a:solidFill>
                <a:latin typeface="Aptos"/>
              </a:rPr>
              <a:t>disclosure</a:t>
            </a:r>
          </a:p>
        </p:txBody>
      </p:sp>
      <p:sp>
        <p:nvSpPr>
          <p:cNvPr id="20" name="Prior disclosure bar"/>
          <p:cNvSpPr/>
          <p:nvPr/>
        </p:nvSpPr>
        <p:spPr>
          <a:xfrm>
            <a:off x="1143000" y="2221992"/>
            <a:ext cx="438912" cy="146304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ior disclosure value"/>
          <p:cNvSpPr txBox="1"/>
          <p:nvPr/>
        </p:nvSpPr>
        <p:spPr>
          <a:xfrm>
            <a:off x="1655064" y="217627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Aptos"/>
              </a:rPr>
              <a:t>0.30</a:t>
            </a:r>
          </a:p>
        </p:txBody>
      </p:sp>
      <p:sp>
        <p:nvSpPr>
          <p:cNvPr id="22" name="Prior processing label"/>
          <p:cNvSpPr txBox="1"/>
          <p:nvPr/>
        </p:nvSpPr>
        <p:spPr>
          <a:xfrm>
            <a:off x="301752" y="3154679"/>
            <a:ext cx="74980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0313F"/>
                </a:solidFill>
                <a:latin typeface="Aptos"/>
              </a:rPr>
              <a:t>Emotion</a:t>
            </a:r>
          </a:p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0313F"/>
                </a:solidFill>
                <a:latin typeface="Aptos"/>
              </a:rPr>
              <a:t>processing</a:t>
            </a:r>
          </a:p>
        </p:txBody>
      </p:sp>
      <p:sp>
        <p:nvSpPr>
          <p:cNvPr id="23" name="Prior processing bar"/>
          <p:cNvSpPr/>
          <p:nvPr/>
        </p:nvSpPr>
        <p:spPr>
          <a:xfrm>
            <a:off x="1143000" y="3337560"/>
            <a:ext cx="658368" cy="146304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ior processing value"/>
          <p:cNvSpPr txBox="1"/>
          <p:nvPr/>
        </p:nvSpPr>
        <p:spPr>
          <a:xfrm>
            <a:off x="1874519" y="3291840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Aptos"/>
              </a:rPr>
              <a:t>0.45</a:t>
            </a:r>
          </a:p>
        </p:txBody>
      </p:sp>
      <p:sp>
        <p:nvSpPr>
          <p:cNvPr id="25" name="Prior solutions label"/>
          <p:cNvSpPr txBox="1"/>
          <p:nvPr/>
        </p:nvSpPr>
        <p:spPr>
          <a:xfrm>
            <a:off x="301752" y="4270248"/>
            <a:ext cx="74980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0313F"/>
                </a:solidFill>
                <a:latin typeface="Aptos"/>
              </a:rPr>
              <a:t>Considering</a:t>
            </a:r>
          </a:p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0313F"/>
                </a:solidFill>
                <a:latin typeface="Aptos"/>
              </a:rPr>
              <a:t>solutions</a:t>
            </a:r>
          </a:p>
        </p:txBody>
      </p:sp>
      <p:sp>
        <p:nvSpPr>
          <p:cNvPr id="26" name="Prior solutions bar"/>
          <p:cNvSpPr/>
          <p:nvPr/>
        </p:nvSpPr>
        <p:spPr>
          <a:xfrm>
            <a:off x="1143000" y="4453128"/>
            <a:ext cx="365760" cy="146304"/>
          </a:xfrm>
          <a:prstGeom prst="rect">
            <a:avLst/>
          </a:prstGeom>
          <a:solidFill>
            <a:srgbClr val="2A6F97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ior solutions value"/>
          <p:cNvSpPr txBox="1"/>
          <p:nvPr/>
        </p:nvSpPr>
        <p:spPr>
          <a:xfrm>
            <a:off x="1581912" y="4407408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Aptos"/>
              </a:rPr>
              <a:t>0.25</a:t>
            </a:r>
          </a:p>
        </p:txBody>
      </p:sp>
      <p:sp>
        <p:nvSpPr>
          <p:cNvPr id="28" name="Transition model box"/>
          <p:cNvSpPr/>
          <p:nvPr/>
        </p:nvSpPr>
        <p:spPr>
          <a:xfrm>
            <a:off x="2615184" y="1618488"/>
            <a:ext cx="1682496" cy="310896"/>
          </a:xfrm>
          <a:prstGeom prst="roundRect">
            <a:avLst/>
          </a:prstGeom>
          <a:solidFill>
            <a:srgbClr val="EAF3F8"/>
          </a:solidFill>
          <a:ln w="1333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nsition model text"/>
          <p:cNvSpPr txBox="1"/>
          <p:nvPr/>
        </p:nvSpPr>
        <p:spPr>
          <a:xfrm>
            <a:off x="2651760" y="1636776"/>
            <a:ext cx="160934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6F97"/>
                </a:solidFill>
                <a:latin typeface="Cambria Math"/>
              </a:rPr>
              <a:t>transition model  P(sₜ | sₜ₋₁)</a:t>
            </a:r>
          </a:p>
        </p:txBody>
      </p:sp>
      <p:sp>
        <p:nvSpPr>
          <p:cNvPr id="30" name="State 1"/>
          <p:cNvSpPr/>
          <p:nvPr/>
        </p:nvSpPr>
        <p:spPr>
          <a:xfrm>
            <a:off x="2852928" y="22402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te 1 label"/>
          <p:cNvSpPr txBox="1"/>
          <p:nvPr/>
        </p:nvSpPr>
        <p:spPr>
          <a:xfrm>
            <a:off x="2852928" y="2240280"/>
            <a:ext cx="3474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Cambria Math"/>
              </a:rPr>
              <a:t>s₁</a:t>
            </a:r>
          </a:p>
        </p:txBody>
      </p:sp>
      <p:sp>
        <p:nvSpPr>
          <p:cNvPr id="32" name="State 2"/>
          <p:cNvSpPr/>
          <p:nvPr/>
        </p:nvSpPr>
        <p:spPr>
          <a:xfrm>
            <a:off x="3273552" y="22402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te 2 label"/>
          <p:cNvSpPr txBox="1"/>
          <p:nvPr/>
        </p:nvSpPr>
        <p:spPr>
          <a:xfrm>
            <a:off x="3273552" y="2240280"/>
            <a:ext cx="3474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Cambria Math"/>
              </a:rPr>
              <a:t>s₂</a:t>
            </a:r>
          </a:p>
        </p:txBody>
      </p:sp>
      <p:sp>
        <p:nvSpPr>
          <p:cNvPr id="34" name="State 3"/>
          <p:cNvSpPr/>
          <p:nvPr/>
        </p:nvSpPr>
        <p:spPr>
          <a:xfrm>
            <a:off x="3694176" y="224028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 3 label"/>
          <p:cNvSpPr txBox="1"/>
          <p:nvPr/>
        </p:nvSpPr>
        <p:spPr>
          <a:xfrm>
            <a:off x="3694176" y="2240280"/>
            <a:ext cx="34747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Cambria Math"/>
              </a:rPr>
              <a:t>s₃</a:t>
            </a:r>
          </a:p>
        </p:txBody>
      </p:sp>
      <p:cxnSp>
        <p:nvCxnSpPr>
          <p:cNvPr id="36" name="State 1 to State 2"/>
          <p:cNvCxnSpPr/>
          <p:nvPr/>
        </p:nvCxnSpPr>
        <p:spPr>
          <a:xfrm>
            <a:off x="3200400" y="2414016"/>
            <a:ext cx="73152" cy="0"/>
          </a:xfrm>
          <a:prstGeom prst="line">
            <a:avLst/>
          </a:prstGeom>
          <a:ln w="12700">
            <a:solidFill>
              <a:srgbClr val="2A6F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ate 2 to State 3"/>
          <p:cNvCxnSpPr/>
          <p:nvPr/>
        </p:nvCxnSpPr>
        <p:spPr>
          <a:xfrm>
            <a:off x="3621024" y="2414016"/>
            <a:ext cx="73152" cy="0"/>
          </a:xfrm>
          <a:prstGeom prst="line">
            <a:avLst/>
          </a:prstGeom>
          <a:ln w="12700">
            <a:solidFill>
              <a:srgbClr val="2A6F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rediction equation"/>
          <p:cNvSpPr txBox="1"/>
          <p:nvPr/>
        </p:nvSpPr>
        <p:spPr>
          <a:xfrm>
            <a:off x="2615184" y="2761488"/>
            <a:ext cx="1682496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20313F"/>
                </a:solidFill>
                <a:latin typeface="Cambria Math"/>
              </a:rPr>
              <a:t>b̂ₜ(sₜ) = ∑  P(sₜ | sₜ₋₁)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20313F"/>
                </a:solidFill>
                <a:latin typeface="Cambria Math"/>
              </a:rPr>
              <a:t>            sₜ₋₁∈S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20313F"/>
                </a:solidFill>
                <a:latin typeface="Cambria Math"/>
              </a:rPr>
              <a:t>            · bₜ₋₁(sₜ₋₁)</a:t>
            </a:r>
          </a:p>
        </p:txBody>
      </p:sp>
      <p:sp>
        <p:nvSpPr>
          <p:cNvPr id="39" name="Predicted distribution box"/>
          <p:cNvSpPr/>
          <p:nvPr/>
        </p:nvSpPr>
        <p:spPr>
          <a:xfrm>
            <a:off x="2606040" y="5001768"/>
            <a:ext cx="1700784" cy="393192"/>
          </a:xfrm>
          <a:prstGeom prst="roundRect">
            <a:avLst/>
          </a:prstGeom>
          <a:solidFill>
            <a:srgbClr val="EAF3F8"/>
          </a:solidFill>
          <a:ln w="1333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redicted distribution text"/>
          <p:cNvSpPr txBox="1"/>
          <p:nvPr/>
        </p:nvSpPr>
        <p:spPr>
          <a:xfrm>
            <a:off x="2642616" y="5020055"/>
            <a:ext cx="1627632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6F97"/>
                </a:solidFill>
                <a:latin typeface="Cambria Math"/>
              </a:rPr>
              <a:t>predicted distribution  b̂ₜ(sₜ)</a:t>
            </a:r>
          </a:p>
        </p:txBody>
      </p:sp>
      <p:sp>
        <p:nvSpPr>
          <p:cNvPr id="41" name="Candidate response box"/>
          <p:cNvSpPr/>
          <p:nvPr/>
        </p:nvSpPr>
        <p:spPr>
          <a:xfrm>
            <a:off x="4892040" y="1719072"/>
            <a:ext cx="1554480" cy="65836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ndidate response"/>
          <p:cNvSpPr txBox="1"/>
          <p:nvPr/>
        </p:nvSpPr>
        <p:spPr>
          <a:xfrm>
            <a:off x="5001768" y="1828800"/>
            <a:ext cx="133502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313F"/>
                </a:solidFill>
                <a:latin typeface="Aptos"/>
              </a:rPr>
              <a:t>“That sounds really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0313F"/>
                </a:solidFill>
                <a:latin typeface="Aptos"/>
              </a:rPr>
              <a:t>difficult.”</a:t>
            </a:r>
          </a:p>
        </p:txBody>
      </p:sp>
      <p:sp>
        <p:nvSpPr>
          <p:cNvPr id="43" name="Candidate response variable"/>
          <p:cNvSpPr txBox="1"/>
          <p:nvPr/>
        </p:nvSpPr>
        <p:spPr>
          <a:xfrm>
            <a:off x="4956048" y="2450592"/>
            <a:ext cx="142646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784"/>
                </a:solidFill>
                <a:latin typeface="Cambria Math"/>
              </a:rPr>
              <a:t>candidate response  rₜ</a:t>
            </a:r>
          </a:p>
        </p:txBody>
      </p:sp>
      <p:sp>
        <p:nvSpPr>
          <p:cNvPr id="44" name="LLM classifier"/>
          <p:cNvSpPr/>
          <p:nvPr/>
        </p:nvSpPr>
        <p:spPr>
          <a:xfrm>
            <a:off x="5394959" y="2843784"/>
            <a:ext cx="548640" cy="548640"/>
          </a:xfrm>
          <a:prstGeom prst="ellipse">
            <a:avLst/>
          </a:prstGeom>
          <a:solidFill>
            <a:srgbClr val="FFF1E8"/>
          </a:solidFill>
          <a:ln w="1397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LM classifier label"/>
          <p:cNvSpPr txBox="1"/>
          <p:nvPr/>
        </p:nvSpPr>
        <p:spPr>
          <a:xfrm>
            <a:off x="5394959" y="2843784"/>
            <a:ext cx="5486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D97745"/>
                </a:solidFill>
                <a:latin typeface="Aptos"/>
              </a:rPr>
              <a:t>LLM</a:t>
            </a:r>
          </a:p>
        </p:txBody>
      </p:sp>
      <p:cxnSp>
        <p:nvCxnSpPr>
          <p:cNvPr id="46" name="Response to LLM"/>
          <p:cNvCxnSpPr/>
          <p:nvPr/>
        </p:nvCxnSpPr>
        <p:spPr>
          <a:xfrm>
            <a:off x="5669279" y="2377440"/>
            <a:ext cx="0" cy="466344"/>
          </a:xfrm>
          <a:prstGeom prst="line">
            <a:avLst/>
          </a:prstGeom>
          <a:ln w="15240">
            <a:solidFill>
              <a:srgbClr val="D9774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bserved label box"/>
          <p:cNvSpPr/>
          <p:nvPr/>
        </p:nvSpPr>
        <p:spPr>
          <a:xfrm>
            <a:off x="4873752" y="4928616"/>
            <a:ext cx="1591056" cy="557784"/>
          </a:xfrm>
          <a:prstGeom prst="roundRect">
            <a:avLst/>
          </a:prstGeom>
          <a:solidFill>
            <a:srgbClr val="FFF1E8"/>
          </a:solidFill>
          <a:ln w="13335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bserved label text"/>
          <p:cNvSpPr txBox="1"/>
          <p:nvPr/>
        </p:nvSpPr>
        <p:spPr>
          <a:xfrm>
            <a:off x="4910328" y="4946903"/>
            <a:ext cx="1517904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D97745"/>
                </a:solidFill>
                <a:latin typeface="Cambria Math"/>
              </a:rPr>
              <a:t>observed label  oₜ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D97745"/>
                </a:solidFill>
                <a:latin typeface="Cambria Math"/>
              </a:rPr>
              <a:t>Empathy / validation</a:t>
            </a:r>
          </a:p>
        </p:txBody>
      </p:sp>
      <p:cxnSp>
        <p:nvCxnSpPr>
          <p:cNvPr id="49" name="LLM to observed label"/>
          <p:cNvCxnSpPr/>
          <p:nvPr/>
        </p:nvCxnSpPr>
        <p:spPr>
          <a:xfrm>
            <a:off x="5669279" y="3392424"/>
            <a:ext cx="0" cy="1536192"/>
          </a:xfrm>
          <a:prstGeom prst="line">
            <a:avLst/>
          </a:prstGeom>
          <a:ln w="15240">
            <a:solidFill>
              <a:srgbClr val="D9774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bservation input port box"/>
          <p:cNvSpPr/>
          <p:nvPr/>
        </p:nvSpPr>
        <p:spPr>
          <a:xfrm>
            <a:off x="7114031" y="1636776"/>
            <a:ext cx="1078992" cy="329184"/>
          </a:xfrm>
          <a:prstGeom prst="roundRect">
            <a:avLst/>
          </a:prstGeom>
          <a:solidFill>
            <a:srgbClr val="FFF1E8"/>
          </a:solidFill>
          <a:ln w="13335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bservation input port text"/>
          <p:cNvSpPr txBox="1"/>
          <p:nvPr/>
        </p:nvSpPr>
        <p:spPr>
          <a:xfrm>
            <a:off x="7150607" y="1655064"/>
            <a:ext cx="1005839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D97745"/>
                </a:solidFill>
                <a:latin typeface="Cambria Math"/>
              </a:rPr>
              <a:t>observation  oₜ</a:t>
            </a:r>
          </a:p>
        </p:txBody>
      </p:sp>
      <p:sp>
        <p:nvSpPr>
          <p:cNvPr id="52" name="Prediction input port box"/>
          <p:cNvSpPr/>
          <p:nvPr/>
        </p:nvSpPr>
        <p:spPr>
          <a:xfrm>
            <a:off x="8421624" y="1636776"/>
            <a:ext cx="1024128" cy="329184"/>
          </a:xfrm>
          <a:prstGeom prst="roundRect">
            <a:avLst/>
          </a:prstGeom>
          <a:solidFill>
            <a:srgbClr val="EAF3F8"/>
          </a:solidFill>
          <a:ln w="13335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ediction input port text"/>
          <p:cNvSpPr txBox="1"/>
          <p:nvPr/>
        </p:nvSpPr>
        <p:spPr>
          <a:xfrm>
            <a:off x="8458199" y="1655064"/>
            <a:ext cx="9509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2A6F97"/>
                </a:solidFill>
                <a:latin typeface="Cambria Math"/>
              </a:rPr>
              <a:t>prediction  b̂ₜ</a:t>
            </a:r>
          </a:p>
        </p:txBody>
      </p:sp>
      <p:sp>
        <p:nvSpPr>
          <p:cNvPr id="54" name="Bayesian update equation"/>
          <p:cNvSpPr txBox="1"/>
          <p:nvPr/>
        </p:nvSpPr>
        <p:spPr>
          <a:xfrm>
            <a:off x="7059168" y="2185416"/>
            <a:ext cx="2450592" cy="103327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13F"/>
                </a:solidFill>
                <a:latin typeface="Cambria Math"/>
              </a:rPr>
              <a:t>bₜ(sₜ) =  P(oₜ | sₜ) × b̂ₜ(sₜ)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13F"/>
                </a:solidFill>
                <a:latin typeface="Cambria Math"/>
              </a:rPr>
              <a:t>               ───────────────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13F"/>
                </a:solidFill>
                <a:latin typeface="Cambria Math"/>
              </a:rPr>
              <a:t>               ∑ₛ′∈S P(oₜ | s′) b̂ₜ(s′)</a:t>
            </a:r>
          </a:p>
        </p:txBody>
      </p:sp>
      <p:cxnSp>
        <p:nvCxnSpPr>
          <p:cNvPr id="55" name="Observation to likelihood term"/>
          <p:cNvCxnSpPr/>
          <p:nvPr/>
        </p:nvCxnSpPr>
        <p:spPr>
          <a:xfrm>
            <a:off x="7653527" y="1965960"/>
            <a:ext cx="228600" cy="292608"/>
          </a:xfrm>
          <a:prstGeom prst="line">
            <a:avLst/>
          </a:prstGeom>
          <a:ln w="15240">
            <a:solidFill>
              <a:srgbClr val="D9774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Prediction to prior term"/>
          <p:cNvCxnSpPr/>
          <p:nvPr/>
        </p:nvCxnSpPr>
        <p:spPr>
          <a:xfrm flipH="1">
            <a:off x="8860536" y="1965960"/>
            <a:ext cx="73152" cy="292608"/>
          </a:xfrm>
          <a:prstGeom prst="line">
            <a:avLst/>
          </a:prstGeom>
          <a:ln w="15240">
            <a:solidFill>
              <a:srgbClr val="2A6F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Posterior distribution label"/>
          <p:cNvSpPr txBox="1"/>
          <p:nvPr/>
        </p:nvSpPr>
        <p:spPr>
          <a:xfrm>
            <a:off x="7223759" y="3483864"/>
            <a:ext cx="212140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67784"/>
                </a:solidFill>
                <a:latin typeface="Cambria Math"/>
              </a:rPr>
              <a:t>posterior state belief  bₜ(s)</a:t>
            </a:r>
          </a:p>
        </p:txBody>
      </p:sp>
      <p:cxnSp>
        <p:nvCxnSpPr>
          <p:cNvPr id="58" name="Posterior chart axis"/>
          <p:cNvCxnSpPr/>
          <p:nvPr/>
        </p:nvCxnSpPr>
        <p:spPr>
          <a:xfrm>
            <a:off x="8293608" y="3895344"/>
            <a:ext cx="0" cy="1965960"/>
          </a:xfrm>
          <a:prstGeom prst="line">
            <a:avLst/>
          </a:prstGeom>
          <a:ln w="12700">
            <a:solidFill>
              <a:srgbClr val="9AA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osterior disclosure label"/>
          <p:cNvSpPr txBox="1"/>
          <p:nvPr/>
        </p:nvSpPr>
        <p:spPr>
          <a:xfrm>
            <a:off x="7132320" y="4087368"/>
            <a:ext cx="104241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0313F"/>
                </a:solidFill>
                <a:latin typeface="Aptos"/>
              </a:rPr>
              <a:t>Disclosure</a:t>
            </a:r>
          </a:p>
        </p:txBody>
      </p:sp>
      <p:sp>
        <p:nvSpPr>
          <p:cNvPr id="60" name="Posterior disclosure bar"/>
          <p:cNvSpPr/>
          <p:nvPr/>
        </p:nvSpPr>
        <p:spPr>
          <a:xfrm>
            <a:off x="8348471" y="4142232"/>
            <a:ext cx="173736" cy="146304"/>
          </a:xfrm>
          <a:prstGeom prst="rect">
            <a:avLst/>
          </a:prstGeom>
          <a:solidFill>
            <a:srgbClr val="667784"/>
          </a:solidFill>
          <a:ln>
            <a:solidFill>
              <a:srgbClr val="667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osterior disclosure value"/>
          <p:cNvSpPr txBox="1"/>
          <p:nvPr/>
        </p:nvSpPr>
        <p:spPr>
          <a:xfrm>
            <a:off x="8595359" y="409651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Aptos"/>
              </a:rPr>
              <a:t>0.12</a:t>
            </a:r>
          </a:p>
        </p:txBody>
      </p:sp>
      <p:sp>
        <p:nvSpPr>
          <p:cNvPr id="62" name="Posterior processing label"/>
          <p:cNvSpPr txBox="1"/>
          <p:nvPr/>
        </p:nvSpPr>
        <p:spPr>
          <a:xfrm>
            <a:off x="7132320" y="4681728"/>
            <a:ext cx="104241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9D8F"/>
                </a:solidFill>
                <a:latin typeface="Aptos"/>
              </a:rPr>
              <a:t>Processing</a:t>
            </a:r>
          </a:p>
        </p:txBody>
      </p:sp>
      <p:sp>
        <p:nvSpPr>
          <p:cNvPr id="63" name="Posterior processing bar"/>
          <p:cNvSpPr/>
          <p:nvPr/>
        </p:nvSpPr>
        <p:spPr>
          <a:xfrm>
            <a:off x="8348471" y="4736592"/>
            <a:ext cx="941832" cy="146304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osterior processing value"/>
          <p:cNvSpPr txBox="1"/>
          <p:nvPr/>
        </p:nvSpPr>
        <p:spPr>
          <a:xfrm>
            <a:off x="9363455" y="469087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Aptos"/>
              </a:rPr>
              <a:t>0.66</a:t>
            </a:r>
          </a:p>
        </p:txBody>
      </p:sp>
      <p:sp>
        <p:nvSpPr>
          <p:cNvPr id="65" name="Posterior solutions label"/>
          <p:cNvSpPr txBox="1"/>
          <p:nvPr/>
        </p:nvSpPr>
        <p:spPr>
          <a:xfrm>
            <a:off x="7132320" y="5276088"/>
            <a:ext cx="104241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9D8F"/>
                </a:solidFill>
                <a:latin typeface="Aptos"/>
              </a:rPr>
              <a:t>Solutions</a:t>
            </a:r>
          </a:p>
        </p:txBody>
      </p:sp>
      <p:sp>
        <p:nvSpPr>
          <p:cNvPr id="66" name="Posterior solutions bar"/>
          <p:cNvSpPr/>
          <p:nvPr/>
        </p:nvSpPr>
        <p:spPr>
          <a:xfrm>
            <a:off x="8348471" y="5330952"/>
            <a:ext cx="310896" cy="146304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osterior solutions value"/>
          <p:cNvSpPr txBox="1"/>
          <p:nvPr/>
        </p:nvSpPr>
        <p:spPr>
          <a:xfrm>
            <a:off x="8732519" y="528523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0313F"/>
                </a:solidFill>
                <a:latin typeface="Aptos"/>
              </a:rPr>
              <a:t>0.22</a:t>
            </a:r>
          </a:p>
        </p:txBody>
      </p:sp>
      <p:sp>
        <p:nvSpPr>
          <p:cNvPr id="68" name="Progression score equation"/>
          <p:cNvSpPr txBox="1"/>
          <p:nvPr/>
        </p:nvSpPr>
        <p:spPr>
          <a:xfrm>
            <a:off x="10058400" y="1664208"/>
            <a:ext cx="1682496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0313F"/>
                </a:solidFill>
                <a:latin typeface="Cambria Math"/>
              </a:rPr>
              <a:t>Score(rₜ) =  ∑  bₜ(s)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0313F"/>
                </a:solidFill>
                <a:latin typeface="Cambria Math"/>
              </a:rPr>
              <a:t>                  s∈Sₜₐᵣɡₑₜ</a:t>
            </a:r>
          </a:p>
        </p:txBody>
      </p:sp>
      <p:sp>
        <p:nvSpPr>
          <p:cNvPr id="69" name="Target states box"/>
          <p:cNvSpPr/>
          <p:nvPr/>
        </p:nvSpPr>
        <p:spPr>
          <a:xfrm>
            <a:off x="10122408" y="2624328"/>
            <a:ext cx="1554480" cy="630936"/>
          </a:xfrm>
          <a:prstGeom prst="roundRect">
            <a:avLst/>
          </a:prstGeom>
          <a:solidFill>
            <a:srgbClr val="E8F6F3"/>
          </a:solidFill>
          <a:ln w="1333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arget states text"/>
          <p:cNvSpPr txBox="1"/>
          <p:nvPr/>
        </p:nvSpPr>
        <p:spPr>
          <a:xfrm>
            <a:off x="10158984" y="2642616"/>
            <a:ext cx="1481328" cy="59435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2A9D8F"/>
                </a:solidFill>
                <a:latin typeface="Cambria Math"/>
              </a:rPr>
              <a:t>Sₜₐᵣɡₑₜ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2A9D8F"/>
                </a:solidFill>
                <a:latin typeface="Cambria Math"/>
              </a:rPr>
              <a:t>Processing + Solutions</a:t>
            </a:r>
          </a:p>
        </p:txBody>
      </p:sp>
      <p:sp>
        <p:nvSpPr>
          <p:cNvPr id="71" name="Score arithmetic"/>
          <p:cNvSpPr txBox="1"/>
          <p:nvPr/>
        </p:nvSpPr>
        <p:spPr>
          <a:xfrm>
            <a:off x="10259568" y="3547872"/>
            <a:ext cx="128016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13F"/>
                </a:solidFill>
                <a:latin typeface="Cambria Math"/>
              </a:rPr>
              <a:t>0.66 + 0.22</a:t>
            </a:r>
          </a:p>
        </p:txBody>
      </p:sp>
      <p:sp>
        <p:nvSpPr>
          <p:cNvPr id="72" name="Progression compatibility score"/>
          <p:cNvSpPr txBox="1"/>
          <p:nvPr/>
        </p:nvSpPr>
        <p:spPr>
          <a:xfrm>
            <a:off x="10323576" y="4142232"/>
            <a:ext cx="115214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A9D8F"/>
                </a:solidFill>
                <a:latin typeface="Cambria Math"/>
              </a:rPr>
              <a:t>0.88</a:t>
            </a:r>
          </a:p>
        </p:txBody>
      </p:sp>
      <p:sp>
        <p:nvSpPr>
          <p:cNvPr id="73" name="Progression compatibility label"/>
          <p:cNvSpPr txBox="1"/>
          <p:nvPr/>
        </p:nvSpPr>
        <p:spPr>
          <a:xfrm>
            <a:off x="10222992" y="4773168"/>
            <a:ext cx="13533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784"/>
                </a:solidFill>
                <a:latin typeface="Aptos"/>
              </a:rPr>
              <a:t>progression compatibility</a:t>
            </a:r>
          </a:p>
        </p:txBody>
      </p:sp>
      <p:cxnSp>
        <p:nvCxnSpPr>
          <p:cNvPr id="74" name="Predicted distribution rail 1"/>
          <p:cNvCxnSpPr/>
          <p:nvPr/>
        </p:nvCxnSpPr>
        <p:spPr>
          <a:xfrm>
            <a:off x="4306824" y="5202936"/>
            <a:ext cx="228600" cy="0"/>
          </a:xfrm>
          <a:prstGeom prst="line">
            <a:avLst/>
          </a:prstGeom>
          <a:ln w="18415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Predicted distribution rail 2"/>
          <p:cNvCxnSpPr/>
          <p:nvPr/>
        </p:nvCxnSpPr>
        <p:spPr>
          <a:xfrm flipV="1">
            <a:off x="4535424" y="256032"/>
            <a:ext cx="0" cy="4946904"/>
          </a:xfrm>
          <a:prstGeom prst="line">
            <a:avLst/>
          </a:prstGeom>
          <a:ln w="18415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Predicted distribution rail 3"/>
          <p:cNvCxnSpPr/>
          <p:nvPr/>
        </p:nvCxnSpPr>
        <p:spPr>
          <a:xfrm>
            <a:off x="4535424" y="256032"/>
            <a:ext cx="4398264" cy="0"/>
          </a:xfrm>
          <a:prstGeom prst="line">
            <a:avLst/>
          </a:prstGeom>
          <a:ln w="18415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Predicted distribution rail 4"/>
          <p:cNvCxnSpPr/>
          <p:nvPr/>
        </p:nvCxnSpPr>
        <p:spPr>
          <a:xfrm>
            <a:off x="8933688" y="256032"/>
            <a:ext cx="0" cy="1380744"/>
          </a:xfrm>
          <a:prstGeom prst="line">
            <a:avLst/>
          </a:prstGeom>
          <a:ln w="18415">
            <a:solidFill>
              <a:srgbClr val="2A6F9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Predicted distribution rail label background"/>
          <p:cNvSpPr/>
          <p:nvPr/>
        </p:nvSpPr>
        <p:spPr>
          <a:xfrm>
            <a:off x="6263640" y="118872"/>
            <a:ext cx="1700784" cy="256032"/>
          </a:xfrm>
          <a:prstGeom prst="round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redicted distribution rail label"/>
          <p:cNvSpPr txBox="1"/>
          <p:nvPr/>
        </p:nvSpPr>
        <p:spPr>
          <a:xfrm>
            <a:off x="6263640" y="118872"/>
            <a:ext cx="170078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2A6F97"/>
                </a:solidFill>
                <a:latin typeface="Aptos"/>
              </a:rPr>
              <a:t>predicted state distribution</a:t>
            </a:r>
          </a:p>
        </p:txBody>
      </p:sp>
      <p:cxnSp>
        <p:nvCxnSpPr>
          <p:cNvPr id="80" name="Observation rail 1"/>
          <p:cNvCxnSpPr/>
          <p:nvPr/>
        </p:nvCxnSpPr>
        <p:spPr>
          <a:xfrm>
            <a:off x="6464808" y="5212080"/>
            <a:ext cx="265176" cy="0"/>
          </a:xfrm>
          <a:prstGeom prst="line">
            <a:avLst/>
          </a:prstGeom>
          <a:ln w="18415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Observation rail 2"/>
          <p:cNvCxnSpPr/>
          <p:nvPr/>
        </p:nvCxnSpPr>
        <p:spPr>
          <a:xfrm flipV="1">
            <a:off x="6729984" y="658368"/>
            <a:ext cx="0" cy="4553712"/>
          </a:xfrm>
          <a:prstGeom prst="line">
            <a:avLst/>
          </a:prstGeom>
          <a:ln w="18415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Observation rail 3"/>
          <p:cNvCxnSpPr/>
          <p:nvPr/>
        </p:nvCxnSpPr>
        <p:spPr>
          <a:xfrm>
            <a:off x="6729984" y="658368"/>
            <a:ext cx="923543" cy="0"/>
          </a:xfrm>
          <a:prstGeom prst="line">
            <a:avLst/>
          </a:prstGeom>
          <a:ln w="18415">
            <a:solidFill>
              <a:srgbClr val="D97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Observation rail 4"/>
          <p:cNvCxnSpPr/>
          <p:nvPr/>
        </p:nvCxnSpPr>
        <p:spPr>
          <a:xfrm>
            <a:off x="7653527" y="658368"/>
            <a:ext cx="0" cy="978408"/>
          </a:xfrm>
          <a:prstGeom prst="line">
            <a:avLst/>
          </a:prstGeom>
          <a:ln w="18415">
            <a:solidFill>
              <a:srgbClr val="D9774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bservation rail label background"/>
          <p:cNvSpPr/>
          <p:nvPr/>
        </p:nvSpPr>
        <p:spPr>
          <a:xfrm>
            <a:off x="6327648" y="530352"/>
            <a:ext cx="1517904" cy="256032"/>
          </a:xfrm>
          <a:prstGeom prst="round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bservation rail label"/>
          <p:cNvSpPr txBox="1"/>
          <p:nvPr/>
        </p:nvSpPr>
        <p:spPr>
          <a:xfrm>
            <a:off x="6327648" y="530352"/>
            <a:ext cx="151790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D97745"/>
                </a:solidFill>
                <a:latin typeface="Aptos"/>
              </a:rPr>
              <a:t>response-derived observation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BASiS Figures 1 and 2 — Editable PowerPoint</dc:title>
  <dc:subject>Editable architecture and Bayesian scoring diagrams</dc:subject>
  <dc:creator>BASiS paper authors</dc:creator>
  <cp:keywords/>
  <dc:description>All visible elements are native PowerPoint shapes, text boxes, and connectors.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